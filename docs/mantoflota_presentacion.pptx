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92" r:id="rId2"/>
    <p:sldId id="295" r:id="rId3"/>
    <p:sldId id="297" r:id="rId4"/>
    <p:sldId id="316" r:id="rId5"/>
    <p:sldId id="312" r:id="rId6"/>
    <p:sldId id="313" r:id="rId7"/>
    <p:sldId id="314" r:id="rId8"/>
    <p:sldId id="306" r:id="rId9"/>
    <p:sldId id="315" r:id="rId10"/>
    <p:sldId id="311" r:id="rId11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8"/>
  </p:normalViewPr>
  <p:slideViewPr>
    <p:cSldViewPr snapToGrid="0">
      <p:cViewPr varScale="1">
        <p:scale>
          <a:sx n="90" d="100"/>
          <a:sy n="90" d="100"/>
        </p:scale>
        <p:origin x="21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6BEDC-74BE-0EC8-2127-205D0CF63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B6FF8-9446-7A5A-F5F5-D8AD2F880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EDFA4-BB28-95EF-B029-F0B368406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5191F-9276-A8B6-7ADF-1B9DC01DE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49E13-8A27-874E-C078-B10DC34F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8966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238E-6D59-3C5C-7F08-32226F3F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319C-74D2-8FB8-92C1-D6321149C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7B56DB-8D37-4F23-EA2C-C05579357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5D153-2FBC-59CF-7EF1-DA7253700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88FF9-F3F9-0E71-E076-71A09FCA6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7D14D-F784-CBA0-9C3F-FE6698BF0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FEE8B5-C044-4657-CFDD-4961BE46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F683E-B99E-DF76-A8F1-7F6996FB5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90601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BBDD27-8B20-E9AE-423E-31F505D08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67510-949A-10AE-CACF-E752D0809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282D2-70A1-7270-8F97-FBA687C6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5878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E94AC-9150-6CA8-2322-9D4415DC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CB6C-625A-CEB4-BAF9-6ADD7B8FE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41D980-15A5-B44E-9894-393C8C073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B3FC7-9D98-FC5B-6601-103DFED19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9AE43-89BA-08DF-02C5-E1778B345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9DB2F-7AE7-842B-B66C-C7FA94D2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13683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13C72-926D-3D53-A806-82227C784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B6F01-82F2-B449-1C6A-6ABD3503D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EF0ADA-3149-F0D8-E72D-BDC5A1676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31D52-55E2-A037-9B1F-92B2BED5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658F-9476-5770-ACD2-7EA08EE71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815AA-BC5D-B3B7-352E-82D7485E9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19884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37023-A3ED-2F4D-F16E-2D3F3567D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F85E8-6C83-6B49-22D9-7D58FB4CA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3D019-F640-873C-41CE-9336C331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41648-3909-52A2-CFC3-021AE5A2D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7497-DD8C-EA23-2AF3-86D97F99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737695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EE693-279A-7B16-96DD-375D722442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D9CA3-B17E-E515-B50C-72A1A9DFC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1AF42-EDDF-B12D-5C6B-1866D562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5E295-AED7-DE37-568E-59B243AE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0FCF-9A28-C1FC-6043-73A214E6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38171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DAFBF-19EA-849A-5863-5DC9A5F63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D9A9C-B989-6CDE-70F6-378B48536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E1F5-8887-62BD-C1AE-157EEBEE9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FE1A1-448E-7744-8C3C-17C112009073}" type="datetimeFigureOut">
              <a:rPr lang="en-MX" smtClean="0"/>
              <a:t>03/05/26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AAAE4-02B8-D089-9EF5-DF7DA0F99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C378C-DFA7-B1FE-8D59-21F34AFD8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F5342-AD6C-0A42-9912-383EF3980A4A}" type="slidenum">
              <a:rPr lang="en-MX" smtClean="0"/>
              <a:t>‹#›</a:t>
            </a:fld>
            <a:endParaRPr lang="en-MX"/>
          </a:p>
        </p:txBody>
      </p:sp>
      <p:sp>
        <p:nvSpPr>
          <p:cNvPr id="900" name="AccentBar"/>
          <p:cNvSpPr/>
          <p:nvPr userDrawn="1"/>
        </p:nvSpPr>
        <p:spPr>
          <a:xfrm>
            <a:off x="0" y="6583050"/>
            <a:ext cx="12192000" cy="274320"/>
          </a:xfrm>
          <a:solidFill>
            <a:srgbClr val="D9262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3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91" r:id="rId3"/>
    <p:sldLayoutId id="2147483692" r:id="rId4"/>
    <p:sldLayoutId id="2147483693" r:id="rId5"/>
    <p:sldLayoutId id="2147483694" r:id="rId6"/>
    <p:sldLayoutId id="214748369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D343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43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43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43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436"/>
          </a:solidFill>
          <a:latin typeface="+mn-lt"/>
          <a:ea typeface="+mn-ea"/>
          <a:cs typeface="+mn-cs"/>
        </a:defRPr>
      </a:lvl9pPr>
    </p:bodyStyle>
    <p:otherStyle>
      <a:defPPr>
        <a:defRPr lang="en-MX">
          <a:solidFill>
            <a:srgbClr val="636E72"/>
          </a:solidFill>
        </a:defRPr>
      </a:defPPr>
      <a:lvl1pPr marL="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636E7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F0006-50A7-2BC0-3AFD-56C475707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0500"/>
            <a:ext cx="9144000" cy="1016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sz="4400" b="1" dirty="0">
                <a:solidFill>
                  <a:srgbClr val="D9262E"/>
                </a:solidFill>
                <a:latin typeface="Raleway"/>
              </a:rPr>
              <a:t>MantoFlota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525649-2355-2257-40CA-3FD3DCEAD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40000"/>
            <a:ext cx="9144000" cy="27940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s-MX" sz="1600" dirty="0">
                <a:solidFill>
                  <a:srgbClr val="636E72"/>
                </a:solidFill>
                <a:latin typeface="Open Sans"/>
              </a:rPr>
              <a:t>Sistema básico de control de mantenimiento preventivo para flotillas</a:t>
            </a:r>
          </a:p>
          <a:p>
            <a:pPr algn="ctr">
              <a:buNone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Universidad del Valle de México</a:t>
            </a:r>
          </a:p>
          <a:p>
            <a:pPr algn="ctr"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Lógica y Programación Estructurada</a:t>
            </a:r>
          </a:p>
          <a:p>
            <a:pPr algn="ctr">
              <a:buNone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Alumno: </a:t>
            </a:r>
            <a:r>
              <a:rPr lang="es-MX" sz="1400" b="1" dirty="0">
                <a:solidFill>
                  <a:srgbClr val="2D3436"/>
                </a:solidFill>
                <a:latin typeface="Open Sans"/>
              </a:rPr>
              <a:t>Rigoberto González Lomelí</a:t>
            </a:r>
          </a:p>
          <a:p>
            <a:pPr algn="ctr"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Docente: José Antonio Urquidez Ramírez</a:t>
            </a:r>
          </a:p>
          <a:p>
            <a:pPr algn="ctr"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Mayo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215AC4-80F4-4932-E319-FEAD414EE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90500"/>
            <a:ext cx="1905000" cy="106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68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46B32D-53C7-AA46-A162-04DAD6796435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Problema Detectado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6F623F-FA94-4048-A062-E644AF851B4F}"/>
              </a:ext>
            </a:extLst>
          </p:cNvPr>
          <p:cNvSpPr txBox="1"/>
          <p:nvPr/>
        </p:nvSpPr>
        <p:spPr>
          <a:xfrm>
            <a:off x="635000" y="1333500"/>
            <a:ext cx="10922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Muchas empresas aún controlan sus unidades y servicios de mantenimiento en hojas de cálculo, libretas o archivos dispersos.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Esto genera </a:t>
            </a:r>
            <a:r>
              <a:rPr lang="es-MX" sz="1800" b="1" dirty="0">
                <a:solidFill>
                  <a:srgbClr val="D9262E"/>
                </a:solidFill>
                <a:latin typeface="Open Sans"/>
              </a:rPr>
              <a:t>retrasos, errores y pérdida de información</a:t>
            </a:r>
            <a:r>
              <a:rPr lang="es-MX" sz="1800" dirty="0">
                <a:solidFill>
                  <a:srgbClr val="2D3436"/>
                </a:solidFill>
                <a:latin typeface="Open Sans"/>
              </a:rPr>
              <a:t> entre sesiones de trabajo.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No hay forma sencilla de consultar el historial de servicios por vehículo ni de saber qué unidad requiere atención.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800" dirty="0">
                <a:solidFill>
                  <a:srgbClr val="2D3436"/>
                </a:solidFill>
                <a:latin typeface="Open Sans"/>
              </a:rPr>
              <a:t>El seguimiento del kilometraje y los costos depende de la memoria del operador.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s-MX" sz="1800" b="1" i="1" dirty="0">
                <a:solidFill>
                  <a:srgbClr val="D9262E"/>
                </a:solidFill>
                <a:latin typeface="Open Sans"/>
              </a:rPr>
              <a:t>Se necesita una herramienta digital sencilla que centralice y persista esta información.</a:t>
            </a:r>
          </a:p>
        </p:txBody>
      </p:sp>
    </p:spTree>
    <p:extLst>
      <p:ext uri="{BB962C8B-B14F-4D97-AF65-F5344CB8AC3E}">
        <p14:creationId xmlns:p14="http://schemas.microsoft.com/office/powerpoint/2010/main" val="378482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15AA38-CF54-E641-8333-511ED14B4CB8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Objetivo y Solución Propuesta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E3758-FC44-044A-AC26-37638DE03190}"/>
              </a:ext>
            </a:extLst>
          </p:cNvPr>
          <p:cNvSpPr txBox="1"/>
          <p:nvPr/>
        </p:nvSpPr>
        <p:spPr>
          <a:xfrm>
            <a:off x="635000" y="1333500"/>
            <a:ext cx="10922000" cy="218521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buNone/>
            </a:pPr>
            <a:r>
              <a:rPr lang="es-MX" sz="1800" b="1" dirty="0">
                <a:solidFill>
                  <a:srgbClr val="D9262E"/>
                </a:solidFill>
                <a:latin typeface="Open Sans"/>
              </a:rPr>
              <a:t>MantoFlota</a:t>
            </a:r>
            <a:r>
              <a:rPr lang="es-MX" sz="1800" dirty="0">
                <a:solidFill>
                  <a:srgbClr val="2D3436"/>
                </a:solidFill>
                <a:latin typeface="Open Sans"/>
              </a:rPr>
              <a:t> es una aplicación web para el control básico de mantenimiento preventivo de una flotilla interna de empresa.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Registrar y administrar unidades vehiculares (CRUD completo)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Llevar historial de mantenimientos por unidad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Persistir datos en base de datos relacional (MySQL)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Exportar datos a archivo CSV y JSON como respaldo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Validar entradas y controlar acceso con autenticación JWT</a:t>
            </a:r>
          </a:p>
        </p:txBody>
      </p:sp>
    </p:spTree>
    <p:extLst>
      <p:ext uri="{BB962C8B-B14F-4D97-AF65-F5344CB8AC3E}">
        <p14:creationId xmlns:p14="http://schemas.microsoft.com/office/powerpoint/2010/main" val="100999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85F951-AA77-5E43-80EE-A61E93DF9CE1}"/>
              </a:ext>
            </a:extLst>
          </p:cNvPr>
          <p:cNvSpPr txBox="1"/>
          <p:nvPr/>
        </p:nvSpPr>
        <p:spPr>
          <a:xfrm>
            <a:off x="635000" y="381000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Arquitectura del Sistema</a:t>
            </a:r>
          </a:p>
        </p:txBody>
      </p:sp>
      <p:sp>
        <p:nvSpPr>
          <p:cNvPr id="10" name="Box0"/>
          <p:cNvSpPr/>
          <p:nvPr/>
        </p:nvSpPr>
        <p:spPr>
          <a:xfrm>
            <a:off x="1524000" y="304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D9262E"/>
          </a:solidFill>
          <a:ln w="0"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s-MX" sz="2200" b="1" dirty="0">
                <a:solidFill>
                  <a:srgbClr val="FFFFFF"/>
                </a:solidFill>
                <a:latin typeface="Raleway"/>
              </a:rPr>
              <a:t>Next.js</a:t>
            </a:r>
          </a:p>
          <a:p>
            <a:pPr algn="ctr">
              <a:buNone/>
            </a:pPr>
            <a:r>
              <a:rPr lang="es-MX" sz="1400" dirty="0">
                <a:solidFill>
                  <a:srgbClr val="FFFFFF"/>
                </a:solidFill>
                <a:latin typeface="Open Sans"/>
              </a:rPr>
              <a:t>Frontend</a:t>
            </a:r>
          </a:p>
        </p:txBody>
      </p:sp>
      <p:sp>
        <p:nvSpPr>
          <p:cNvPr id="11" name="Box1"/>
          <p:cNvSpPr/>
          <p:nvPr/>
        </p:nvSpPr>
        <p:spPr>
          <a:xfrm>
            <a:off x="4826000" y="304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B71F26"/>
          </a:solidFill>
          <a:ln w="0"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s-MX" sz="2200" b="1" dirty="0">
                <a:solidFill>
                  <a:srgbClr val="FFFFFF"/>
                </a:solidFill>
                <a:latin typeface="Raleway"/>
              </a:rPr>
              <a:t>FastAPI</a:t>
            </a:r>
          </a:p>
          <a:p>
            <a:pPr algn="ctr">
              <a:buNone/>
            </a:pPr>
            <a:r>
              <a:rPr lang="es-MX" sz="1400" dirty="0">
                <a:solidFill>
                  <a:srgbClr val="FFFFFF"/>
                </a:solidFill>
                <a:latin typeface="Open Sans"/>
              </a:rPr>
              <a:t>Backend / API</a:t>
            </a:r>
          </a:p>
        </p:txBody>
      </p:sp>
      <p:sp>
        <p:nvSpPr>
          <p:cNvPr id="12" name="Box2"/>
          <p:cNvSpPr/>
          <p:nvPr/>
        </p:nvSpPr>
        <p:spPr>
          <a:xfrm>
            <a:off x="8128000" y="3048000"/>
            <a:ext cx="2540000" cy="1524000"/>
          </a:xfrm>
          <a:prstGeom prst="roundRect">
            <a:avLst>
              <a:gd name="adj" fmla="val 8000"/>
            </a:avLst>
          </a:prstGeom>
          <a:solidFill>
            <a:srgbClr val="8B1720"/>
          </a:solidFill>
          <a:ln w="0">
            <a:noFill/>
          </a:ln>
        </p:spPr>
        <p:txBody>
          <a:bodyPr lIns="0" tIns="0" rIns="0" bIns="0" anchor="ctr" anchorCtr="1"/>
          <a:lstStyle/>
          <a:p>
            <a:pPr algn="ctr">
              <a:buNone/>
            </a:pPr>
            <a:r>
              <a:rPr lang="es-MX" sz="2200" b="1" dirty="0">
                <a:solidFill>
                  <a:srgbClr val="FFFFFF"/>
                </a:solidFill>
                <a:latin typeface="Raleway"/>
              </a:rPr>
              <a:t>MySQL</a:t>
            </a:r>
          </a:p>
          <a:p>
            <a:pPr algn="ctr">
              <a:buNone/>
            </a:pPr>
            <a:r>
              <a:rPr lang="es-MX" sz="1400" dirty="0">
                <a:solidFill>
                  <a:srgbClr val="FFFFFF"/>
                </a:solidFill>
                <a:latin typeface="Open Sans"/>
              </a:rPr>
              <a:t>Base de Datos</a:t>
            </a:r>
          </a:p>
        </p:txBody>
      </p:sp>
      <p:sp>
        <p:nvSpPr>
          <p:cNvPr id="20" name="Arrow0"/>
          <p:cNvSpPr/>
          <p:nvPr/>
        </p:nvSpPr>
        <p:spPr>
          <a:xfrm>
            <a:off x="4064000" y="3733800"/>
            <a:ext cx="762000" cy="152400"/>
          </a:xfrm>
          <a:prstGeom prst="rightArrow">
            <a:avLst/>
          </a:prstGeom>
          <a:solidFill>
            <a:srgbClr val="B2BEC3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21" name="Arrow1"/>
          <p:cNvSpPr/>
          <p:nvPr/>
        </p:nvSpPr>
        <p:spPr>
          <a:xfrm>
            <a:off x="7366000" y="3733800"/>
            <a:ext cx="762000" cy="152400"/>
          </a:xfrm>
          <a:prstGeom prst="rightArrow">
            <a:avLst/>
          </a:prstGeom>
          <a:solidFill>
            <a:srgbClr val="B2BEC3"/>
          </a:solidFill>
          <a:ln w="0">
            <a:noFill/>
          </a:ln>
        </p:spPr>
        <p:txBody>
          <a:bodyPr/>
          <a:lstStyle/>
          <a:p>
            <a:endParaRPr lang="es-MX"/>
          </a:p>
        </p:txBody>
      </p:sp>
      <p:sp>
        <p:nvSpPr>
          <p:cNvPr id="40" name="API RESTLabel"/>
          <p:cNvSpPr/>
          <p:nvPr/>
        </p:nvSpPr>
        <p:spPr>
          <a:xfrm>
            <a:off x="4095000" y="3429000"/>
            <a:ext cx="70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s-MX" sz="1400" b="1" dirty="0">
                <a:solidFill>
                  <a:srgbClr val="636E72"/>
                </a:solidFill>
                <a:latin typeface="Open Sans"/>
              </a:rPr>
              <a:t>API REST</a:t>
            </a:r>
          </a:p>
        </p:txBody>
      </p:sp>
      <p:sp>
        <p:nvSpPr>
          <p:cNvPr id="41" name="SQLLabel"/>
          <p:cNvSpPr/>
          <p:nvPr/>
        </p:nvSpPr>
        <p:spPr>
          <a:xfrm>
            <a:off x="7397000" y="3429000"/>
            <a:ext cx="700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ctr">
              <a:buNone/>
            </a:pPr>
            <a:r>
              <a:rPr lang="es-MX" sz="1400" b="1" dirty="0">
                <a:solidFill>
                  <a:srgbClr val="636E72"/>
                </a:solidFill>
                <a:latin typeface="Open Sans"/>
              </a:rPr>
              <a:t>SQL</a:t>
            </a:r>
          </a:p>
        </p:txBody>
      </p:sp>
      <p:sp>
        <p:nvSpPr>
          <p:cNvPr id="30" name="Tech0"/>
          <p:cNvSpPr/>
          <p:nvPr/>
        </p:nvSpPr>
        <p:spPr>
          <a:xfrm>
            <a:off x="1524000" y="4699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s-MX" sz="1200" dirty="0">
                <a:solidFill>
                  <a:srgbClr val="636E72"/>
                </a:solidFill>
                <a:latin typeface="Open Sans"/>
              </a:rPr>
              <a:t>TypeScript, Tailwind, shadcn/ui</a:t>
            </a:r>
          </a:p>
        </p:txBody>
      </p:sp>
      <p:sp>
        <p:nvSpPr>
          <p:cNvPr id="31" name="Tech1"/>
          <p:cNvSpPr/>
          <p:nvPr/>
        </p:nvSpPr>
        <p:spPr>
          <a:xfrm>
            <a:off x="4826000" y="4699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s-MX" sz="1200" dirty="0">
                <a:solidFill>
                  <a:srgbClr val="636E72"/>
                </a:solidFill>
                <a:latin typeface="Open Sans"/>
              </a:rPr>
              <a:t>Python, Pydantic, SQLAlchemy</a:t>
            </a:r>
          </a:p>
        </p:txBody>
      </p:sp>
      <p:sp>
        <p:nvSpPr>
          <p:cNvPr id="32" name="Tech2"/>
          <p:cNvSpPr/>
          <p:nvPr/>
        </p:nvSpPr>
        <p:spPr>
          <a:xfrm>
            <a:off x="8128000" y="4699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s-MX" sz="1200" dirty="0">
                <a:solidFill>
                  <a:srgbClr val="636E72"/>
                </a:solidFill>
                <a:latin typeface="Open Sans"/>
              </a:rPr>
              <a:t>Alembic, Migraciones</a:t>
            </a:r>
          </a:p>
        </p:txBody>
      </p:sp>
    </p:spTree>
    <p:extLst>
      <p:ext uri="{BB962C8B-B14F-4D97-AF65-F5344CB8AC3E}">
        <p14:creationId xmlns:p14="http://schemas.microsoft.com/office/powerpoint/2010/main" val="389309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ECA51E-4CBA-8E4F-AF5A-E91B522D8400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Funcionalidades Implementadas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22FEB7-BABC-E547-AD67-325328CE9CF1}"/>
              </a:ext>
            </a:extLst>
          </p:cNvPr>
          <p:cNvSpPr txBox="1"/>
          <p:nvPr/>
        </p:nvSpPr>
        <p:spPr>
          <a:xfrm>
            <a:off x="635000" y="1333500"/>
            <a:ext cx="10922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Login y cierre de sesión con JWT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Dashboard con sugerencias de servicio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Alta, edición y baja de unidades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Actualización de kilometraje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Registro de mantenimientos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Historial de servicios por unidad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Eliminación de mantenimientos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Exportación de unidades a JSON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s-MX" sz="1400" i="1" dirty="0">
                <a:solidFill>
                  <a:srgbClr val="636E72"/>
                </a:solidFill>
                <a:latin typeface="Open Sans"/>
              </a:rPr>
              <a:t>Todas las funcionalidades están operativas y probadas en la aplicación.</a:t>
            </a:r>
          </a:p>
        </p:txBody>
      </p:sp>
      <p:pic>
        <p:nvPicPr>
          <p:cNvPr id="4" name="Graphic 4" descr="Gears icon for featur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6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17AA33-6DA7-F84E-AC13-92A9E3842E03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Persistencia de Datos y Validaciones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B9D63-89E2-494E-A563-461A4DE5EDFD}"/>
              </a:ext>
            </a:extLst>
          </p:cNvPr>
          <p:cNvSpPr txBox="1"/>
          <p:nvPr/>
        </p:nvSpPr>
        <p:spPr>
          <a:xfrm>
            <a:off x="635000" y="1333500"/>
            <a:ext cx="5270500" cy="142346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s-MX" sz="1800" b="1" dirty="0">
                <a:solidFill>
                  <a:srgbClr val="D9262E"/>
                </a:solidFill>
                <a:latin typeface="Raleway"/>
              </a:rPr>
              <a:t>Persistencia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Base de datos relacional MySQL con SQLAlchemy async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Migraciones controladas con Alembic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Exportación a archivo JSON (endpoint /export/unidades)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Datos accesibles entre sesiones sin pérdida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D0B11-C1C9-FF47-AD82-DAF88D734E15}"/>
              </a:ext>
            </a:extLst>
          </p:cNvPr>
          <p:cNvSpPr txBox="1"/>
          <p:nvPr/>
        </p:nvSpPr>
        <p:spPr>
          <a:xfrm>
            <a:off x="6286500" y="1333500"/>
            <a:ext cx="5270500" cy="16773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s-MX" sz="1800" b="1" dirty="0">
                <a:solidFill>
                  <a:srgbClr val="D9262E"/>
                </a:solidFill>
                <a:latin typeface="Raleway"/>
              </a:rPr>
              <a:t>Validaciones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Campos obligatorios en todos los formularios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Kilometraje y costo no negativos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Formato de fecha válido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Backend: Pydantic v2 (esquemas tipados)</a:t>
            </a:r>
          </a:p>
          <a:p>
            <a:pPr marL="228600" indent="-228600">
              <a:spcBef>
                <a:spcPts val="3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Frontend: Zod + react-hook-form</a:t>
            </a:r>
          </a:p>
        </p:txBody>
      </p:sp>
      <p:pic>
        <p:nvPicPr>
          <p:cNvPr id="5" name="Graphic 5" descr="Database icon for persisten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678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6B733C-212F-D540-B19B-B70EBA0929DB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Pruebas Finales y Optimización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0423DF-B500-2948-B764-10E0B8407B6D}"/>
              </a:ext>
            </a:extLst>
          </p:cNvPr>
          <p:cNvGraphicFramePr>
            <a:graphicFrameLocks noGrp="1"/>
          </p:cNvGraphicFramePr>
          <p:nvPr/>
        </p:nvGraphicFramePr>
        <p:xfrm>
          <a:off x="635000" y="1333500"/>
          <a:ext cx="10922001" cy="342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0667">
                  <a:extLst>
                    <a:ext uri="{9D8B030D-6E8A-4147-A177-3AD203B41FA5}">
                      <a16:colId xmlns:a16="http://schemas.microsoft.com/office/drawing/2014/main" val="1437755735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3112273526"/>
                    </a:ext>
                  </a:extLst>
                </a:gridCol>
                <a:gridCol w="3640667">
                  <a:extLst>
                    <a:ext uri="{9D8B030D-6E8A-4147-A177-3AD203B41FA5}">
                      <a16:colId xmlns:a16="http://schemas.microsoft.com/office/drawing/2014/main" val="810081196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lang="en-MX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Caso de Prueba</a:t>
                      </a:r>
                    </a:p>
                  </a:txBody>
                  <a:tcPr anchor="ctr">
                    <a:solidFill>
                      <a:srgbClr val="D92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Resultado</a:t>
                      </a:r>
                    </a:p>
                  </a:txBody>
                  <a:tcPr anchor="ctr">
                    <a:solidFill>
                      <a:srgbClr val="D926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Estado</a:t>
                      </a:r>
                    </a:p>
                  </a:txBody>
                  <a:tcPr anchor="ctr">
                    <a:solidFill>
                      <a:srgbClr val="D926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60166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Login con credenciales correctas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Acceso concedido, token JWT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102244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Alta de nueva unidad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Unidad creada y persistida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087904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Edición de datos de 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Cambios guardados correctamente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151715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Registro de mantenimiento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Servicio asociado a unidad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02918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Consulta de historial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Lista filtrada por unidad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33929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Exportación JSON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Archivo descargado con datos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X" sz="1400">
                          <a:solidFill>
                            <a:srgbClr val="2D3436"/>
                          </a:solidFill>
                          <a:latin typeface="Open Sans"/>
                          <a:ea typeface="Open Sans"/>
                          <a:cs typeface="Open Sans"/>
                        </a:rPr>
                        <a:t>✅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9649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47AEA14-DA88-FE4A-9E02-70ED367E3295}"/>
              </a:ext>
            </a:extLst>
          </p:cNvPr>
          <p:cNvSpPr txBox="1"/>
          <p:nvPr/>
        </p:nvSpPr>
        <p:spPr>
          <a:xfrm>
            <a:off x="635000" y="5016500"/>
            <a:ext cx="10922000" cy="78996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Backend: pytest con 100% cobertura en app/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Frontend: vitest + Playwright e2e</a:t>
            </a:r>
          </a:p>
          <a:p>
            <a:pPr marL="228600" indent="-228600">
              <a:spcBef>
                <a:spcPts val="200"/>
              </a:spcBef>
              <a:buFont typeface="Arial"/>
              <a:buChar char="•"/>
            </a:pPr>
            <a:r>
              <a:rPr lang="es-MX" sz="1400" dirty="0">
                <a:solidFill>
                  <a:srgbClr val="2D3436"/>
                </a:solidFill>
                <a:latin typeface="Open Sans"/>
              </a:rPr>
              <a:t>Ajustes tras pruebas: validaciones de borde, mensajes de error claros</a:t>
            </a:r>
          </a:p>
        </p:txBody>
      </p:sp>
      <p:pic>
        <p:nvPicPr>
          <p:cNvPr id="6" name="Graphic 6" descr="Clipboard icon for testi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8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8636DB-435B-7747-A348-E7312886A0A2}"/>
              </a:ext>
            </a:extLst>
          </p:cNvPr>
          <p:cNvSpPr/>
          <p:nvPr/>
        </p:nvSpPr>
        <p:spPr>
          <a:xfrm>
            <a:off x="6223000" y="393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8E497DB-36A4-AE43-B6A6-0D16CB2A030C}"/>
              </a:ext>
            </a:extLst>
          </p:cNvPr>
          <p:cNvSpPr/>
          <p:nvPr/>
        </p:nvSpPr>
        <p:spPr>
          <a:xfrm>
            <a:off x="635000" y="393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71128D-D4E3-C744-9CAB-BCE7A909D259}"/>
              </a:ext>
            </a:extLst>
          </p:cNvPr>
          <p:cNvSpPr/>
          <p:nvPr/>
        </p:nvSpPr>
        <p:spPr>
          <a:xfrm>
            <a:off x="6223000" y="139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CF3026-4E3C-D749-AB99-3B715911D5AA}"/>
              </a:ext>
            </a:extLst>
          </p:cNvPr>
          <p:cNvSpPr/>
          <p:nvPr/>
        </p:nvSpPr>
        <p:spPr>
          <a:xfrm>
            <a:off x="635000" y="1397000"/>
            <a:ext cx="5334000" cy="2159000"/>
          </a:xfrm>
          <a:prstGeom prst="roundRect">
            <a:avLst/>
          </a:prstGeom>
          <a:solidFill>
            <a:srgbClr val="EEEEEE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Insertar captura</a:t>
            </a:r>
            <a:endParaRPr lang="en-MX" sz="1400" i="1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B88D2F-A271-C942-80A8-81ED7535A917}"/>
              </a:ext>
            </a:extLst>
          </p:cNvPr>
          <p:cNvSpPr txBox="1"/>
          <p:nvPr/>
        </p:nvSpPr>
        <p:spPr>
          <a:xfrm>
            <a:off x="635000" y="381000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2D3436"/>
                </a:solidFill>
                <a:latin typeface="Raleway"/>
              </a:rPr>
              <a:t>Evidencia Visual del Sistema</a:t>
            </a:r>
            <a:endParaRPr lang="en-MX" sz="3600" b="1">
              <a:solidFill>
                <a:srgbClr val="2D3436"/>
              </a:solidFill>
              <a:latin typeface="Ralew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9FC3FB-71B6-CF45-AF17-D8418660A66F}"/>
              </a:ext>
            </a:extLst>
          </p:cNvPr>
          <p:cNvSpPr txBox="1"/>
          <p:nvPr/>
        </p:nvSpPr>
        <p:spPr>
          <a:xfrm>
            <a:off x="635000" y="361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Login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293F6E-88D0-6448-B14F-ACC400CD471D}"/>
              </a:ext>
            </a:extLst>
          </p:cNvPr>
          <p:cNvSpPr txBox="1"/>
          <p:nvPr/>
        </p:nvSpPr>
        <p:spPr>
          <a:xfrm>
            <a:off x="6223000" y="361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Dashboard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BFD0C-D5A2-A445-9501-0E94403735CD}"/>
              </a:ext>
            </a:extLst>
          </p:cNvPr>
          <p:cNvSpPr txBox="1"/>
          <p:nvPr/>
        </p:nvSpPr>
        <p:spPr>
          <a:xfrm>
            <a:off x="635000" y="615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Listado de Unidades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6C4D1-E419-BE47-B747-7A24BDC07030}"/>
              </a:ext>
            </a:extLst>
          </p:cNvPr>
          <p:cNvSpPr txBox="1"/>
          <p:nvPr/>
        </p:nvSpPr>
        <p:spPr>
          <a:xfrm>
            <a:off x="6223000" y="6159500"/>
            <a:ext cx="533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36E72"/>
                </a:solidFill>
                <a:latin typeface="Open Sans"/>
                <a:ea typeface="Open Sans"/>
                <a:cs typeface="Open Sans"/>
              </a:rPr>
              <a:t>Historial / Mantenimiento</a:t>
            </a:r>
            <a:endParaRPr lang="en-MX" sz="1400">
              <a:solidFill>
                <a:srgbClr val="636E72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309E63-59E6-F9C6-BD33-2E24F5E92AD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397000"/>
            <a:ext cx="5334000" cy="2159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4847DF-D77B-9852-721D-6AA601EC27E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397000"/>
            <a:ext cx="5334000" cy="2159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418429-25B6-3991-D4E3-D1404697CF8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" y="3937000"/>
            <a:ext cx="5334000" cy="2159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6C9E68-2D6C-969C-414A-E6BE955D63F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223000" y="3937000"/>
            <a:ext cx="5334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8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EB9A1F-C1E8-1F4B-A934-15C1A00809D1}"/>
              </a:ext>
            </a:extLst>
          </p:cNvPr>
          <p:cNvSpPr txBox="1"/>
          <p:nvPr/>
        </p:nvSpPr>
        <p:spPr>
          <a:xfrm>
            <a:off x="635000" y="381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Documentación Generada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5CAC0-C527-B743-9FB1-7C09C964D612}"/>
              </a:ext>
            </a:extLst>
          </p:cNvPr>
          <p:cNvSpPr txBox="1"/>
          <p:nvPr/>
        </p:nvSpPr>
        <p:spPr>
          <a:xfrm>
            <a:off x="635000" y="1333500"/>
            <a:ext cx="10922000" cy="222112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Manual de Usuario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Guía paso a paso para operar el sistema: login, unidades, mantenimientos, exportación.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Manual Técnico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Arquitectura, endpoints, modelos de datos, variables de entorno, instrucciones de despliegue.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README del Proyecto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Requisitos, instalación, comandos de desarrollo, estructura de carpetas.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s-MX" sz="1600" b="1" dirty="0">
                <a:solidFill>
                  <a:srgbClr val="D9262E"/>
                </a:solidFill>
                <a:latin typeface="Open Sans"/>
              </a:rPr>
              <a:t>Código Estructurado</a:t>
            </a:r>
          </a:p>
          <a:p>
            <a:pPr marL="457200" indent="0">
              <a:spcBef>
                <a:spcPts val="100"/>
              </a:spcBef>
              <a:buNone/>
            </a:pPr>
            <a:r>
              <a:rPr lang="es-MX" sz="1400" dirty="0">
                <a:solidFill>
                  <a:srgbClr val="636E72"/>
                </a:solidFill>
                <a:latin typeface="Open Sans"/>
              </a:rPr>
              <a:t>Separación clara: routers, CRUD, modelos, esquemas, validadores, componentes frontend.</a:t>
            </a:r>
          </a:p>
        </p:txBody>
      </p:sp>
      <p:pic>
        <p:nvPicPr>
          <p:cNvPr id="4" name="Graphic 4" descr="Book icon for document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3810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55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8A9A-B492-8D83-6758-2BD2EE1752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s-MX" sz="3600" b="1" dirty="0">
                <a:solidFill>
                  <a:srgbClr val="2D3436"/>
                </a:solidFill>
                <a:latin typeface="Raleway"/>
              </a:rPr>
              <a:t>Conclusión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2F6CA4-4D68-06E4-57B8-FA69061A9B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s-MX" sz="1600" dirty="0">
                <a:solidFill>
                  <a:srgbClr val="2D3436"/>
                </a:solidFill>
                <a:latin typeface="Open Sans"/>
              </a:rPr>
              <a:t>MantoFlota evolucionó de una idea inicial a una aplicación web funcional con persistencia, validación, pruebas y documentación completa.</a:t>
            </a:r>
          </a:p>
          <a:p>
            <a:pPr algn="ctr">
              <a:spcBef>
                <a:spcPts val="600"/>
              </a:spcBef>
              <a:buNone/>
            </a:pPr>
            <a:r>
              <a:rPr lang="es-MX" sz="1600" dirty="0">
                <a:solidFill>
                  <a:srgbClr val="636E72"/>
                </a:solidFill>
                <a:latin typeface="Open Sans"/>
              </a:rPr>
              <a:t>El proyecto deja una base sólida para futuras mejoras: alertas avanzadas, reportes analíticos y despliegue en la nube.</a:t>
            </a:r>
          </a:p>
          <a:p>
            <a:pPr algn="ctr">
              <a:spcBef>
                <a:spcPts val="800"/>
              </a:spcBef>
              <a:buNone/>
            </a:pPr>
            <a:r>
              <a:rPr lang="es-MX" sz="1800" b="1" i="1" dirty="0">
                <a:solidFill>
                  <a:srgbClr val="D9262E"/>
                </a:solidFill>
                <a:latin typeface="Raleway"/>
              </a:rPr>
              <a:t>«De la hoja de cálculo al sistema web.»</a:t>
            </a:r>
          </a:p>
        </p:txBody>
      </p:sp>
    </p:spTree>
    <p:extLst>
      <p:ext uri="{BB962C8B-B14F-4D97-AF65-F5344CB8AC3E}">
        <p14:creationId xmlns:p14="http://schemas.microsoft.com/office/powerpoint/2010/main" val="2230310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867206383]">
  <a:themeElements>
    <a:clrScheme name="MantoFlota Academic">
      <a:dk1>
        <a:srgbClr val="2D3436"/>
      </a:dk1>
      <a:lt1>
        <a:srgbClr val="FAFAFA"/>
      </a:lt1>
      <a:dk2>
        <a:srgbClr val="636E72"/>
      </a:dk2>
      <a:lt2>
        <a:srgbClr val="F0EFEB"/>
      </a:lt2>
      <a:accent1>
        <a:srgbClr val="D9262E"/>
      </a:accent1>
      <a:accent2>
        <a:srgbClr val="D9262E"/>
      </a:accent2>
      <a:accent3>
        <a:srgbClr val="B71F26"/>
      </a:accent3>
      <a:accent4>
        <a:srgbClr val="D9262E"/>
      </a:accent4>
      <a:accent5>
        <a:srgbClr val="D9262E"/>
      </a:accent5>
      <a:accent6>
        <a:srgbClr val="B71F26"/>
      </a:accent6>
      <a:hlink>
        <a:srgbClr val="467886"/>
      </a:hlink>
      <a:folHlink>
        <a:srgbClr val="96607D"/>
      </a:folHlink>
    </a:clrScheme>
    <a:fontScheme name="MantoFlota Fonts">
      <a:majorFont>
        <a:latin typeface="Ralew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6A60B9-E631-7842-9FEF-513F64BB8EE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89f1bae-f595-4c2a-89ed-f8007c019b3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562</Words>
  <Application>Microsoft Macintosh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Open Sans</vt:lpstr>
      <vt:lpstr>Raleway</vt:lpstr>
      <vt:lpstr>Office Theme [1777867206383]</vt:lpstr>
      <vt:lpstr>MantoFlota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Rigoberto  Gonzalez Lomeli</dc:creator>
  <cp:lastModifiedBy>Rigoberto  Gonzalez Lomeli</cp:lastModifiedBy>
  <cp:revision>5</cp:revision>
  <dcterms:created xsi:type="dcterms:W3CDTF">2026-05-04T03:33:01Z</dcterms:created>
  <dcterms:modified xsi:type="dcterms:W3CDTF">2026-05-04T04:38:30Z</dcterms:modified>
</cp:coreProperties>
</file>